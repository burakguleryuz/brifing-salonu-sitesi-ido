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Projeyi geliştiren stajyer olarak, 4 haftalık staj sürecinde geliştirdiğim toplantı odası yönetim sistemini anlatacağım.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126480"/>
            <a:ext cx="12161520" cy="731520"/>
          </a:xfrm>
          <a:prstGeom prst="rect">
            <a:avLst/>
          </a:prstGeom>
          <a:solidFill>
            <a:srgbClr val="0072B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F7941D"/>
          </a:solidFill>
          <a:ln/>
        </p:spPr>
      </p:sp>
      <p:pic>
        <p:nvPicPr>
          <p:cNvPr id="4" name="Image 0" descr="assets/ido-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18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E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İSTANBUL DENİZ OTOBÜSLERİ · BİLGİ TEKNOLOJİLERİ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246888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Dijital Signage ve Toplantı Odası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Yönetim Sistemi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48640" y="4206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9E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Staj Dönemi Proje Sunumu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48640" y="4846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Hazırlayan: 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Burak Güleryüz  ·  Öğrenci No: 240502026
</a:t>
            </a:r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Sunulan: 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Mithatcan Bursalı (Staj Sorumlusu Mühendis)
</a:t>
            </a:r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Tarih: 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– 28 Ağustos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SUNUM İÇERIĞI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3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Gündem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40080" cy="640080"/>
          </a:xfrm>
          <a:prstGeom prst="ellipse">
            <a:avLst/>
          </a:prstGeom>
          <a:solidFill>
            <a:srgbClr val="0072B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40" dirty="0"/>
          </a:p>
        </p:txBody>
      </p:sp>
      <p:sp>
        <p:nvSpPr>
          <p:cNvPr id="6" name="Text 4"/>
          <p:cNvSpPr/>
          <p:nvPr/>
        </p:nvSpPr>
        <p:spPr>
          <a:xfrm>
            <a:off x="1371600" y="16916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Projenin Amacı ve Problem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371600" y="20574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Hangi ihtiyaçtan doğdu, neyi çözüyor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1737360"/>
            <a:ext cx="640080" cy="640080"/>
          </a:xfrm>
          <a:prstGeom prst="ellipse">
            <a:avLst/>
          </a:prstGeom>
          <a:solidFill>
            <a:srgbClr val="F7941D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40" dirty="0"/>
          </a:p>
        </p:txBody>
      </p:sp>
      <p:sp>
        <p:nvSpPr>
          <p:cNvPr id="10" name="Text 8"/>
          <p:cNvSpPr/>
          <p:nvPr/>
        </p:nvSpPr>
        <p:spPr>
          <a:xfrm>
            <a:off x="7132320" y="16916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Kullanılan Teknolojiler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132320" y="20574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Laravel, MVC, MySQL ve tercih gerekçeleri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640080" cy="640080"/>
          </a:xfrm>
          <a:prstGeom prst="ellipse">
            <a:avLst/>
          </a:prstGeom>
          <a:solidFill>
            <a:srgbClr val="0072BC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200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40" dirty="0"/>
          </a:p>
        </p:txBody>
      </p:sp>
      <p:sp>
        <p:nvSpPr>
          <p:cNvPr id="14" name="Text 12"/>
          <p:cNvSpPr/>
          <p:nvPr/>
        </p:nvSpPr>
        <p:spPr>
          <a:xfrm>
            <a:off x="1371600" y="3154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Mimarisi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371600" y="35204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Katmanlı yapı ve veri akışı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3200400"/>
            <a:ext cx="640080" cy="640080"/>
          </a:xfrm>
          <a:prstGeom prst="ellipse">
            <a:avLst/>
          </a:prstGeom>
          <a:solidFill>
            <a:srgbClr val="F7941D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3200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40" dirty="0"/>
          </a:p>
        </p:txBody>
      </p:sp>
      <p:sp>
        <p:nvSpPr>
          <p:cNvPr id="18" name="Text 16"/>
          <p:cNvSpPr/>
          <p:nvPr/>
        </p:nvSpPr>
        <p:spPr>
          <a:xfrm>
            <a:off x="7132320" y="3154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Özellikler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132320" y="35204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Çakışma kontrolü, roller, signage, arıza modülü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663440"/>
            <a:ext cx="640080" cy="640080"/>
          </a:xfrm>
          <a:prstGeom prst="ellipse">
            <a:avLst/>
          </a:prstGeom>
          <a:solidFill>
            <a:srgbClr val="0072BC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663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40" dirty="0"/>
          </a:p>
        </p:txBody>
      </p:sp>
      <p:sp>
        <p:nvSpPr>
          <p:cNvPr id="22" name="Text 20"/>
          <p:cNvSpPr/>
          <p:nvPr/>
        </p:nvSpPr>
        <p:spPr>
          <a:xfrm>
            <a:off x="1371600" y="46177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Ekranlar ve Demo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371600" y="49834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arayüz görüntüleri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09360" y="4663440"/>
            <a:ext cx="640080" cy="640080"/>
          </a:xfrm>
          <a:prstGeom prst="ellipse">
            <a:avLst/>
          </a:prstGeom>
          <a:solidFill>
            <a:srgbClr val="F7941D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4663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40" dirty="0"/>
          </a:p>
        </p:txBody>
      </p:sp>
      <p:sp>
        <p:nvSpPr>
          <p:cNvPr id="26" name="Text 24"/>
          <p:cNvSpPr/>
          <p:nvPr/>
        </p:nvSpPr>
        <p:spPr>
          <a:xfrm>
            <a:off x="7132320" y="46177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Kazanımlar ve Sonraki Adımlar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132320" y="49834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Öğrendiklerim ve geliştirme önerileri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PROJENIN AMACI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3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Çözülen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Şirket içi toplantı odalarının yönetiminde iki temel sorun tespit edildi: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F4F7FA"/>
          </a:solidFill>
          <a:ln w="12700">
            <a:solidFill>
              <a:srgbClr val="E0E6EC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423160"/>
            <a:ext cx="640080" cy="640080"/>
          </a:xfrm>
          <a:prstGeom prst="ellipse">
            <a:avLst/>
          </a:prstGeom>
          <a:solidFill>
            <a:srgbClr val="F7941D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423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540" dirty="0"/>
          </a:p>
        </p:txBody>
      </p:sp>
      <p:sp>
        <p:nvSpPr>
          <p:cNvPr id="8" name="Text 6"/>
          <p:cNvSpPr/>
          <p:nvPr/>
        </p:nvSpPr>
        <p:spPr>
          <a:xfrm>
            <a:off x="1691640" y="24231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Çift Rezervasyon (Çakışma)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306324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oda, aynı saat için birden fazla toplantı ayarlanabiliyor; bu da salonda karışıklığa ve toplantıların çakışmasına yol açıyordu.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210312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F4F7FA"/>
          </a:solidFill>
          <a:ln w="12700">
            <a:solidFill>
              <a:srgbClr val="E0E6EC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37960" y="2423160"/>
            <a:ext cx="640080" cy="640080"/>
          </a:xfrm>
          <a:prstGeom prst="ellipse">
            <a:avLst/>
          </a:prstGeom>
          <a:solidFill>
            <a:srgbClr val="0072BC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2423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540" dirty="0"/>
          </a:p>
        </p:txBody>
      </p:sp>
      <p:sp>
        <p:nvSpPr>
          <p:cNvPr id="13" name="Text 11"/>
          <p:cNvSpPr/>
          <p:nvPr/>
        </p:nvSpPr>
        <p:spPr>
          <a:xfrm>
            <a:off x="7360920" y="24231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Anlık Doluluk Görünmüyor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37960" y="306324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odanın o an dolu, müsait veya arızalı olduğu, salonun önüne gelmeden anlaşılamıyordu; personel boşuna dolu odaya gidiyordu.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480560"/>
            <a:ext cx="11064240" cy="1463040"/>
          </a:xfrm>
          <a:prstGeom prst="roundRect">
            <a:avLst>
              <a:gd name="adj" fmla="val 6250"/>
            </a:avLst>
          </a:prstGeom>
          <a:solidFill>
            <a:srgbClr val="003B5C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663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502920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bir web uygulamasında; rezervasyon anında çakışmayı otomatik engelleyen, odaların durumunu salon kapısındaki ekranda canlı gösteren, rol bazlı erişimli bir yönetim sistemi geliştirildi.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KULLANILAN TEKNOLOJILER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3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Teknoloji Yığını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4708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framework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0" y="1920240"/>
            <a:ext cx="0" cy="594360"/>
          </a:xfrm>
          <a:prstGeom prst="line">
            <a:avLst/>
          </a:prstGeom>
          <a:noFill/>
          <a:ln w="12700">
            <a:solidFill>
              <a:srgbClr val="D5DD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0" y="19202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mimarisi, Eloquent ORM ve Artisan araçlarıyla hızlı ve güvenli geliştirme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4F7FA"/>
          </a:solidFill>
          <a:ln w="12700">
            <a:solidFill>
              <a:srgbClr val="E0E6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99008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Blade + Bootstrap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3429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Arayüz katmanı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840480" y="3063240"/>
            <a:ext cx="0" cy="594360"/>
          </a:xfrm>
          <a:prstGeom prst="line">
            <a:avLst/>
          </a:prstGeom>
          <a:noFill/>
          <a:ln w="12700">
            <a:solidFill>
              <a:srgbClr val="D5DD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30632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Sunucu taraflı şablonlar ve responsive, kurumsal renkli tasarım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13308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2960" y="4572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Veritabanı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840480" y="4206240"/>
            <a:ext cx="0" cy="594360"/>
          </a:xfrm>
          <a:prstGeom prst="line">
            <a:avLst/>
          </a:prstGeom>
          <a:noFill/>
          <a:ln w="12700">
            <a:solidFill>
              <a:srgbClr val="D5DD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0" y="42062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İlişkisel yapı; users, rooms, meetings ve sessions tabloları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16636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4F7FA"/>
          </a:solidFill>
          <a:ln w="12700">
            <a:solidFill>
              <a:srgbClr val="E0E6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527608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GitHub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2960" y="5715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Sürüm kontrolü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840480" y="5349240"/>
            <a:ext cx="0" cy="594360"/>
          </a:xfrm>
          <a:prstGeom prst="line">
            <a:avLst/>
          </a:prstGeom>
          <a:noFill/>
          <a:ln w="12700">
            <a:solidFill>
              <a:srgbClr val="D5DD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0" y="53492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geçmişi, .gitignore ile hassas veri koruması, uzak depo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SISTEM MIMARISI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3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Katmanlı MVC Mimarisi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İstek, route ve yetkilendirme katmanından geçerek Controller'a, oradan Model üzerinden veritabanına ulaşır; sonuç View ile kullanıcıya döner.</a:t>
            </a:r>
            <a:endParaRPr lang="en-US" sz="1300" dirty="0"/>
          </a:p>
        </p:txBody>
      </p:sp>
      <p:pic>
        <p:nvPicPr>
          <p:cNvPr id="5" name="Image 0" descr="assets/mvc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11680"/>
            <a:ext cx="3483163" cy="457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955280" y="2103120"/>
            <a:ext cx="457200" cy="457200"/>
          </a:xfrm>
          <a:prstGeom prst="ellipse">
            <a:avLst/>
          </a:prstGeom>
          <a:solidFill>
            <a:srgbClr val="0072BC"/>
          </a:solidFill>
          <a:ln/>
        </p:spPr>
      </p:sp>
      <p:sp>
        <p:nvSpPr>
          <p:cNvPr id="7" name="Text 4"/>
          <p:cNvSpPr/>
          <p:nvPr/>
        </p:nvSpPr>
        <p:spPr>
          <a:xfrm>
            <a:off x="795528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549640" y="20574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549640" y="23774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İstekleri ilgili controller'a yönlendirir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955280" y="2971800"/>
            <a:ext cx="457200" cy="457200"/>
          </a:xfrm>
          <a:prstGeom prst="ellipse">
            <a:avLst/>
          </a:prstGeom>
          <a:solidFill>
            <a:srgbClr val="F7941D"/>
          </a:solidFill>
          <a:ln/>
        </p:spPr>
      </p:sp>
      <p:sp>
        <p:nvSpPr>
          <p:cNvPr id="11" name="Text 8"/>
          <p:cNvSpPr/>
          <p:nvPr/>
        </p:nvSpPr>
        <p:spPr>
          <a:xfrm>
            <a:off x="795528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549640" y="29260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549640" y="32461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 yapmamış kullanıcıyı engeller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955280" y="3840480"/>
            <a:ext cx="457200" cy="457200"/>
          </a:xfrm>
          <a:prstGeom prst="ellipse">
            <a:avLst/>
          </a:prstGeom>
          <a:solidFill>
            <a:srgbClr val="0072BC"/>
          </a:solidFill>
          <a:ln/>
        </p:spPr>
      </p:sp>
      <p:sp>
        <p:nvSpPr>
          <p:cNvPr id="15" name="Text 12"/>
          <p:cNvSpPr/>
          <p:nvPr/>
        </p:nvSpPr>
        <p:spPr>
          <a:xfrm>
            <a:off x="795528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549640" y="37947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549640" y="41148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 mantığı + yetki kontrolü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7955280" y="4709160"/>
            <a:ext cx="457200" cy="457200"/>
          </a:xfrm>
          <a:prstGeom prst="ellipse">
            <a:avLst/>
          </a:prstGeom>
          <a:solidFill>
            <a:srgbClr val="F7941D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4709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549640" y="46634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549640" y="4983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Veritabanı ilişkileri ve çakışma kontrolü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7955280" y="5577840"/>
            <a:ext cx="457200" cy="457200"/>
          </a:xfrm>
          <a:prstGeom prst="ellipse">
            <a:avLst/>
          </a:prstGeom>
          <a:solidFill>
            <a:srgbClr val="0072BC"/>
          </a:solidFill>
          <a:ln/>
        </p:spPr>
      </p:sp>
      <p:sp>
        <p:nvSpPr>
          <p:cNvPr id="23" name="Text 20"/>
          <p:cNvSpPr/>
          <p:nvPr/>
        </p:nvSpPr>
        <p:spPr>
          <a:xfrm>
            <a:off x="7955280" y="5577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549640" y="55321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8549640" y="58521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Kullanıcının gördüğü arayüz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TEMEL ÖZELLIKLER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3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Çakışma Kontrolü Algoritması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Sistemin kalbindeki kural: aynı odada, saatleri kesişen iki toplantı aynı anda var olamaz.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003B5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2402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Kesişim koşulu (Model scope):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56032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start_time &lt; yeni_bitiş</a:t>
            </a:r>
            <a:endParaRPr lang="en-US" sz="15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endParaRPr lang="en-US" sz="15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end_time &gt; yeni_başlangıç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09360" y="2103120"/>
            <a:ext cx="5303520" cy="1371600"/>
          </a:xfrm>
          <a:prstGeom prst="roundRect">
            <a:avLst>
              <a:gd name="adj" fmla="val 6667"/>
            </a:avLst>
          </a:prstGeom>
          <a:solidFill>
            <a:srgbClr val="F4F7FA"/>
          </a:solidFill>
          <a:ln w="12700">
            <a:solidFill>
              <a:srgbClr val="E0E6EC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37960" y="228600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Model'de? 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 tek bir yeniden kullanılabilir fonksiyon (scope) olarak yazıldı; hem yeni toplantı oluştururken hem de mevcut bir toplantıyı düzenlerken aynı güvenceyle çalışıyor.</a:t>
            </a:r>
            <a:endParaRPr lang="en-US" sz="1350" dirty="0"/>
          </a:p>
        </p:txBody>
      </p:sp>
      <p:pic>
        <p:nvPicPr>
          <p:cNvPr id="10" name="Image 0" descr="assets/sistem_ak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0"/>
            <a:ext cx="1714500" cy="2743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023360" y="3749040"/>
            <a:ext cx="75895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Çakışma varsa: </a:t>
            </a:r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Kayıt reddedilir, kullanıcı formu düzeltmesi için uyarılır.
</a:t>
            </a:r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Çakışma yoksa: </a:t>
            </a:r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Toplantı kaydedilir, brifing ekranı bir sonraki yenilemede güncel durumu yansıtır.
</a:t>
            </a:r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 otomasyon: </a:t>
            </a:r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Toplantı süresi (30 dk / 1 saat / uzun) seçilince bitiş saati JavaScript ile otomatik hesaplanır.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TEMEL ÖZELLIKLER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3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 Tabanlı Yetkilendirme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Dört farklı rol tanımlandı. Yetki kontrolleri hem arayüzde hem de sunucu (controller) tarafında uygulanarak URL'den yetkisiz erişim engellendi.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108960" cy="502920"/>
          </a:xfrm>
          <a:prstGeom prst="rect">
            <a:avLst/>
          </a:prstGeom>
          <a:solidFill>
            <a:srgbClr val="003B5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488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0" y="2148840"/>
            <a:ext cx="3108960" cy="502920"/>
          </a:xfrm>
          <a:prstGeom prst="rect">
            <a:avLst/>
          </a:prstGeom>
          <a:solidFill>
            <a:srgbClr val="003B5C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0" y="21488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Toplantı Oluşturma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766560" y="2148840"/>
            <a:ext cx="2377440" cy="502920"/>
          </a:xfrm>
          <a:prstGeom prst="rect">
            <a:avLst/>
          </a:prstGeom>
          <a:solidFill>
            <a:srgbClr val="003B5C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0" y="21488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Düzenleme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0" y="2148840"/>
            <a:ext cx="2468880" cy="502920"/>
          </a:xfrm>
          <a:prstGeom prst="rect">
            <a:avLst/>
          </a:prstGeom>
          <a:solidFill>
            <a:srgbClr val="003B5C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0" y="21488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Oda Arıza Durumu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651760"/>
            <a:ext cx="3108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651760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Stajyer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0" y="2651760"/>
            <a:ext cx="3108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0" y="2651760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Hayır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766560" y="2651760"/>
            <a:ext cx="2377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265176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Hayır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144000" y="2651760"/>
            <a:ext cx="24688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0" y="265176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Hayır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48640" y="3310128"/>
            <a:ext cx="3108960" cy="658368"/>
          </a:xfrm>
          <a:prstGeom prst="rect">
            <a:avLst/>
          </a:prstGeom>
          <a:solidFill>
            <a:srgbClr val="F4F7FA"/>
          </a:solidFill>
          <a:ln w="12700">
            <a:solidFill>
              <a:srgbClr val="E0E6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310128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Personel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3657600" y="3310128"/>
            <a:ext cx="3108960" cy="658368"/>
          </a:xfrm>
          <a:prstGeom prst="rect">
            <a:avLst/>
          </a:prstGeom>
          <a:solidFill>
            <a:srgbClr val="F4F7FA"/>
          </a:solidFill>
          <a:ln w="12700">
            <a:solidFill>
              <a:srgbClr val="E0E6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0" y="3310128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Evet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766560" y="3310128"/>
            <a:ext cx="2377440" cy="658368"/>
          </a:xfrm>
          <a:prstGeom prst="rect">
            <a:avLst/>
          </a:prstGeom>
          <a:solidFill>
            <a:srgbClr val="F4F7FA"/>
          </a:solidFill>
          <a:ln w="12700">
            <a:solidFill>
              <a:srgbClr val="E0E6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0" y="3310128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Hayır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9144000" y="3310128"/>
            <a:ext cx="2468880" cy="658368"/>
          </a:xfrm>
          <a:prstGeom prst="rect">
            <a:avLst/>
          </a:prstGeom>
          <a:solidFill>
            <a:srgbClr val="F4F7FA"/>
          </a:solidFill>
          <a:ln w="12700">
            <a:solidFill>
              <a:srgbClr val="E0E6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0" y="3310128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Hayır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548640" y="3968496"/>
            <a:ext cx="3108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968496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Bakım Sorumlusu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3657600" y="3968496"/>
            <a:ext cx="3108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0" y="3968496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Hayır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6766560" y="3968496"/>
            <a:ext cx="2377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66560" y="3968496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Hayır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9144000" y="3968496"/>
            <a:ext cx="24688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0" y="3968496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Evet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548640" y="4626864"/>
            <a:ext cx="3108960" cy="658368"/>
          </a:xfrm>
          <a:prstGeom prst="rect">
            <a:avLst/>
          </a:prstGeom>
          <a:solidFill>
            <a:srgbClr val="F4F7FA"/>
          </a:solidFill>
          <a:ln w="12700">
            <a:solidFill>
              <a:srgbClr val="E0E6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4626864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 Kalem Müdürü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3657600" y="4626864"/>
            <a:ext cx="3108960" cy="658368"/>
          </a:xfrm>
          <a:prstGeom prst="rect">
            <a:avLst/>
          </a:prstGeom>
          <a:solidFill>
            <a:srgbClr val="F4F7FA"/>
          </a:solidFill>
          <a:ln w="12700">
            <a:solidFill>
              <a:srgbClr val="E0E6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0" y="4626864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Evet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6766560" y="4626864"/>
            <a:ext cx="2377440" cy="658368"/>
          </a:xfrm>
          <a:prstGeom prst="rect">
            <a:avLst/>
          </a:prstGeom>
          <a:solidFill>
            <a:srgbClr val="F4F7FA"/>
          </a:solidFill>
          <a:ln w="12700">
            <a:solidFill>
              <a:srgbClr val="E0E6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66560" y="4626864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Evet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9144000" y="4626864"/>
            <a:ext cx="2468880" cy="658368"/>
          </a:xfrm>
          <a:prstGeom prst="rect">
            <a:avLst/>
          </a:prstGeom>
          <a:solidFill>
            <a:srgbClr val="F4F7FA"/>
          </a:solidFill>
          <a:ln w="12700">
            <a:solidFill>
              <a:srgbClr val="E0E6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144000" y="4626864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Evet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Ayrıca: Yönetim Kurulu toplantıları yalnızca Özel Kalem Müdürü tarafından görülebilir/oluşturulabilir.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TEMEL ÖZELLIKLER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3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Brifing Ekranı ve Arıza Modülü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389120"/>
          </a:xfrm>
          <a:prstGeom prst="roundRect">
            <a:avLst>
              <a:gd name="adj" fmla="val 2083"/>
            </a:avLst>
          </a:prstGeom>
          <a:solidFill>
            <a:srgbClr val="F4F7FA"/>
          </a:solidFill>
          <a:ln w="12700">
            <a:solidFill>
              <a:srgbClr val="E0E6EC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20240"/>
            <a:ext cx="640080" cy="640080"/>
          </a:xfrm>
          <a:prstGeom prst="ellipse">
            <a:avLst/>
          </a:prstGeom>
          <a:solidFill>
            <a:srgbClr val="0072B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◉</a:t>
            </a:r>
            <a:endParaRPr lang="en-US" sz="1540" dirty="0"/>
          </a:p>
        </p:txBody>
      </p:sp>
      <p:sp>
        <p:nvSpPr>
          <p:cNvPr id="7" name="Text 5"/>
          <p:cNvSpPr/>
          <p:nvPr/>
        </p:nvSpPr>
        <p:spPr>
          <a:xfrm>
            <a:off x="1691640" y="20116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Brifing (Signage) Ekranı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47548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Salon kapısındaki ekranda açık kalır
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saniyede bir otomatik yenilenir
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Dolu / Müsait / Arızalı durumunu renklerle gösterir
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Şifresiz erişilir (TV'de sürekli açık kalabilir)
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anki ve sonraki toplantıları listeler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5394960" cy="4389120"/>
          </a:xfrm>
          <a:prstGeom prst="roundRect">
            <a:avLst>
              <a:gd name="adj" fmla="val 2083"/>
            </a:avLst>
          </a:prstGeom>
          <a:solidFill>
            <a:srgbClr val="F4F7FA"/>
          </a:solidFill>
          <a:ln w="12700">
            <a:solidFill>
              <a:srgbClr val="E0E6EC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1920240"/>
            <a:ext cx="640080" cy="640080"/>
          </a:xfrm>
          <a:prstGeom prst="ellipse">
            <a:avLst/>
          </a:prstGeom>
          <a:solidFill>
            <a:srgbClr val="F7941D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540" dirty="0"/>
          </a:p>
        </p:txBody>
      </p:sp>
      <p:sp>
        <p:nvSpPr>
          <p:cNvPr id="12" name="Text 10"/>
          <p:cNvSpPr/>
          <p:nvPr/>
        </p:nvSpPr>
        <p:spPr>
          <a:xfrm>
            <a:off x="7360920" y="20116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Arıza Bildirim Modülü</a:t>
            </a:r>
            <a:endParaRPr lang="en-US" sz="1700" dirty="0"/>
          </a:p>
        </p:txBody>
      </p:sp>
      <p:pic>
        <p:nvPicPr>
          <p:cNvPr id="13" name="Image 0" descr="assets/ariza_bildir_mod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2743200"/>
            <a:ext cx="4754880" cy="203107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537960" y="502920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Yalnızca Bakım Sorumlusu bir odayı arızalı işaretleyebilir. Arıza, o an toplantı olsa bile brifing ekranında önceliklendirilerek gösterilir.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TEMEL ÖZELLIKLER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3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Güvenlik ve Kullanıcı Yönetimi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4F7FA"/>
          </a:solidFill>
          <a:ln w="12700">
            <a:solidFill>
              <a:srgbClr val="E0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0072B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210" dirty="0"/>
          </a:p>
        </p:txBody>
      </p:sp>
      <p:sp>
        <p:nvSpPr>
          <p:cNvPr id="7" name="Text 5"/>
          <p:cNvSpPr/>
          <p:nvPr/>
        </p:nvSpPr>
        <p:spPr>
          <a:xfrm>
            <a:off x="1463040" y="194767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Şifreleme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2313432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Şifreler veritabanında düz metin değil, bcrypt ile şifrelenmiş (Hash) olarak saklanır.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78308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2057400"/>
            <a:ext cx="502920" cy="502920"/>
          </a:xfrm>
          <a:prstGeom prst="ellipse">
            <a:avLst/>
          </a:prstGeom>
          <a:solidFill>
            <a:srgbClr val="F7941D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210" dirty="0"/>
          </a:p>
        </p:txBody>
      </p:sp>
      <p:sp>
        <p:nvSpPr>
          <p:cNvPr id="12" name="Text 10"/>
          <p:cNvSpPr/>
          <p:nvPr/>
        </p:nvSpPr>
        <p:spPr>
          <a:xfrm>
            <a:off x="7223760" y="194767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Oturum Kontrolü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23760" y="2313432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Middleware, giriş yapmamış kullanıcının korumalı sayfalara erişimini engeller.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4F7FA"/>
          </a:solidFill>
          <a:ln w="12700">
            <a:solidFill>
              <a:srgbClr val="E0E6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474720"/>
            <a:ext cx="502920" cy="502920"/>
          </a:xfrm>
          <a:prstGeom prst="ellipse">
            <a:avLst/>
          </a:prstGeom>
          <a:solidFill>
            <a:srgbClr val="0072BC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474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210" dirty="0"/>
          </a:p>
        </p:txBody>
      </p:sp>
      <p:sp>
        <p:nvSpPr>
          <p:cNvPr id="17" name="Text 15"/>
          <p:cNvSpPr/>
          <p:nvPr/>
        </p:nvSpPr>
        <p:spPr>
          <a:xfrm>
            <a:off x="1463040" y="336499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Otomatik Kimlik No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63040" y="3730752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Kayıtta 000001, 000002 formatında sıralı ve benzersiz numara atanır.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9360" y="320040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0" y="3474720"/>
            <a:ext cx="502920" cy="502920"/>
          </a:xfrm>
          <a:prstGeom prst="ellipse">
            <a:avLst/>
          </a:prstGeom>
          <a:solidFill>
            <a:srgbClr val="F7941D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3474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210" dirty="0"/>
          </a:p>
        </p:txBody>
      </p:sp>
      <p:sp>
        <p:nvSpPr>
          <p:cNvPr id="22" name="Text 20"/>
          <p:cNvSpPr/>
          <p:nvPr/>
        </p:nvSpPr>
        <p:spPr>
          <a:xfrm>
            <a:off x="7223760" y="336499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Şifremi Unuttum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23760" y="3730752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Kimlik doğrulaması yapılan iki adımlı güvenli şifre sıfırlama akışı.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61772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4F7FA"/>
          </a:solidFill>
          <a:ln w="12700">
            <a:solidFill>
              <a:srgbClr val="E0E6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4892040"/>
            <a:ext cx="502920" cy="502920"/>
          </a:xfrm>
          <a:prstGeom prst="ellipse">
            <a:avLst/>
          </a:prstGeom>
          <a:solidFill>
            <a:srgbClr val="0072BC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892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210" dirty="0"/>
          </a:p>
        </p:txBody>
      </p:sp>
      <p:sp>
        <p:nvSpPr>
          <p:cNvPr id="27" name="Text 25"/>
          <p:cNvSpPr/>
          <p:nvPr/>
        </p:nvSpPr>
        <p:spPr>
          <a:xfrm>
            <a:off x="1463040" y="478231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Şifre Kuralı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463040" y="5148072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haneli; bir rakam en fazla iki kez tekrar edebilir, sıralı diziye izin verilmez.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09360" y="461772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37960" y="4892040"/>
            <a:ext cx="502920" cy="502920"/>
          </a:xfrm>
          <a:prstGeom prst="ellipse">
            <a:avLst/>
          </a:prstGeom>
          <a:solidFill>
            <a:srgbClr val="F7941D"/>
          </a:solidFill>
          <a:ln/>
        </p:spPr>
      </p:sp>
      <p:sp>
        <p:nvSpPr>
          <p:cNvPr id="31" name="Text 29"/>
          <p:cNvSpPr/>
          <p:nvPr/>
        </p:nvSpPr>
        <p:spPr>
          <a:xfrm>
            <a:off x="6537960" y="4892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210" dirty="0"/>
          </a:p>
        </p:txBody>
      </p:sp>
      <p:sp>
        <p:nvSpPr>
          <p:cNvPr id="32" name="Text 30"/>
          <p:cNvSpPr/>
          <p:nvPr/>
        </p:nvSpPr>
        <p:spPr>
          <a:xfrm>
            <a:off x="7223760" y="478231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Acil Bildirim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223760" y="5148072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Acil işaretlenen toplantıda tüm kullanıcılara otomatik e-posta gönderilir.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3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EKRANLAR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Uygulama Arayüzü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 Ekranı</a:t>
            </a:r>
            <a:endParaRPr lang="en-US" sz="1500" dirty="0"/>
          </a:p>
        </p:txBody>
      </p:sp>
      <p:pic>
        <p:nvPicPr>
          <p:cNvPr id="6" name="Image 0" descr="assets/giris_ekran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240280"/>
            <a:ext cx="5029200" cy="228790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309360" y="1645920"/>
            <a:ext cx="530352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6309360" y="17830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Odalar Yönetim Paneli</a:t>
            </a:r>
            <a:endParaRPr lang="en-US" sz="1500" dirty="0"/>
          </a:p>
        </p:txBody>
      </p:sp>
      <p:pic>
        <p:nvPicPr>
          <p:cNvPr id="9" name="Image 1" descr="assets/odalar_listes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651760"/>
            <a:ext cx="4937760" cy="183501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3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EKRANLAR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Aynı Sistem, Farklı Yetkiler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E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tabanlı yetkilendirmenin gerçek kanıtı: aynı toplantı ekranı, yetkiye göre farklı görünür.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0642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1168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Yetkili görünüm (Özel Kalem Müdürü) — Düzenle / Sil aktif</a:t>
            </a:r>
            <a:endParaRPr lang="en-US" sz="1300" dirty="0"/>
          </a:p>
        </p:txBody>
      </p:sp>
      <p:pic>
        <p:nvPicPr>
          <p:cNvPr id="7" name="Image 0" descr="assets/toplantilar_listes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5868" y="2377440"/>
            <a:ext cx="4809784" cy="1280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4023360"/>
            <a:ext cx="110642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411480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Kısıtlı görünüm (Personel / Bakım Sorumlusu) — İşlem sütunu gizli</a:t>
            </a:r>
            <a:endParaRPr lang="en-US" sz="1300" dirty="0"/>
          </a:p>
        </p:txBody>
      </p:sp>
      <p:pic>
        <p:nvPicPr>
          <p:cNvPr id="10" name="Image 1" descr="assets/toplanti_rol_kisitl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6453" y="4480560"/>
            <a:ext cx="6208614" cy="12344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GELIŞTIRME SÜRECI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3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Haftalık Yol Haritası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822960" cy="822960"/>
          </a:xfrm>
          <a:prstGeom prst="ellipse">
            <a:avLst/>
          </a:prstGeom>
          <a:solidFill>
            <a:srgbClr val="0072B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80" dirty="0"/>
          </a:p>
        </p:txBody>
      </p:sp>
      <p:sp>
        <p:nvSpPr>
          <p:cNvPr id="6" name="Shape 4"/>
          <p:cNvSpPr/>
          <p:nvPr/>
        </p:nvSpPr>
        <p:spPr>
          <a:xfrm>
            <a:off x="960120" y="2651760"/>
            <a:ext cx="0" cy="274320"/>
          </a:xfrm>
          <a:prstGeom prst="line">
            <a:avLst/>
          </a:prstGeom>
          <a:noFill/>
          <a:ln w="25400">
            <a:solidFill>
              <a:srgbClr val="D5DD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00200" y="1874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7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Hafta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0" y="1847088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Oryantasyon, Ege Adaları arayüz çalışması, SAP/ERP tanıma, proje kurulumu, veritabanı ve çakışma kontrolü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822960" cy="822960"/>
          </a:xfrm>
          <a:prstGeom prst="ellipse">
            <a:avLst/>
          </a:prstGeom>
          <a:solidFill>
            <a:srgbClr val="F7941D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9260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80" dirty="0"/>
          </a:p>
        </p:txBody>
      </p:sp>
      <p:sp>
        <p:nvSpPr>
          <p:cNvPr id="11" name="Shape 9"/>
          <p:cNvSpPr/>
          <p:nvPr/>
        </p:nvSpPr>
        <p:spPr>
          <a:xfrm>
            <a:off x="960120" y="3749040"/>
            <a:ext cx="0" cy="274320"/>
          </a:xfrm>
          <a:prstGeom prst="line">
            <a:avLst/>
          </a:prstGeom>
          <a:noFill/>
          <a:ln w="25400">
            <a:solidFill>
              <a:srgbClr val="D5DD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00200" y="2971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Hafta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57600" y="2944368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işlemleri, brifing ekranı, kimlik doğrulama, roller ve Yönetim Kurulu toplantı tipi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822960" cy="822960"/>
          </a:xfrm>
          <a:prstGeom prst="ellipse">
            <a:avLst/>
          </a:prstGeom>
          <a:solidFill>
            <a:srgbClr val="0072B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0233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80" dirty="0"/>
          </a:p>
        </p:txBody>
      </p:sp>
      <p:sp>
        <p:nvSpPr>
          <p:cNvPr id="16" name="Shape 14"/>
          <p:cNvSpPr/>
          <p:nvPr/>
        </p:nvSpPr>
        <p:spPr>
          <a:xfrm>
            <a:off x="960120" y="4846320"/>
            <a:ext cx="0" cy="274320"/>
          </a:xfrm>
          <a:prstGeom prst="line">
            <a:avLst/>
          </a:prstGeom>
          <a:noFill/>
          <a:ln w="25400">
            <a:solidFill>
              <a:srgbClr val="D5DD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00200" y="4069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7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Hafta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657600" y="4041648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Acil mail bildirimi, arıza modülü, şifremi unuttum akışı, sunucu tarafı yetki kontrolü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5120640"/>
            <a:ext cx="822960" cy="822960"/>
          </a:xfrm>
          <a:prstGeom prst="ellipse">
            <a:avLst/>
          </a:prstGeom>
          <a:solidFill>
            <a:srgbClr val="F7941D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5120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980" dirty="0"/>
          </a:p>
        </p:txBody>
      </p:sp>
      <p:sp>
        <p:nvSpPr>
          <p:cNvPr id="21" name="Text 19"/>
          <p:cNvSpPr/>
          <p:nvPr/>
        </p:nvSpPr>
        <p:spPr>
          <a:xfrm>
            <a:off x="1600200" y="5166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Hafta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3657600" y="5138928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Kurumsal UI teması, SVG animasyonlar, logo entegrasyonu, GitHub, MVC dokümantasyonu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SONUÇ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3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Kazanımlar ve Sonraki Adımlar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F4F7F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Projede Öğrendiklerim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mimarisiyle düzenli kod yazma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İlişkisel veritabanı ve Eloquent ORM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tabanlı yetkilendirme ve güvenlik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Session, hashing, middleware kavramları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 bildirim sistemi kurma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 ile sürüm kontrolü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bir kurumsal ihtiyacı uçtan uca çözme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73736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003B5C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9202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Geliştirmeye Açık Alanlar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83680" y="2468880"/>
            <a:ext cx="48463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değişiminin oturum yenilenmeden anlık yansıması için token tabanlı doğrulama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API + React ile mobil erişimli modern bir arayüze taşıma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Otomatik testler (feature test) ile regresyon riskini azaltma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Raporlama ekranı: oda kullanım istatistikleri ve doluluk analizi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3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126480"/>
            <a:ext cx="12161520" cy="731520"/>
          </a:xfrm>
          <a:prstGeom prst="rect">
            <a:avLst/>
          </a:prstGeom>
          <a:solidFill>
            <a:srgbClr val="0072B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F7941D"/>
          </a:solidFill>
          <a:ln/>
        </p:spPr>
      </p:sp>
      <p:pic>
        <p:nvPicPr>
          <p:cNvPr id="4" name="Image 0" descr="assets/ido-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17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4688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Teşekkürler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548640" y="3474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9E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Sorularınızı yanıtlamaktan memnuniyet duyarım.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8640" y="466344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Burak Güleryüz
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Bilgisayar Mühendisliği Stajyeri
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C9E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github.com/BurakGuleryuz/Brifing-salonu-sitesi-ido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2026-08-25T12:24:46Z</dcterms:created>
  <dcterms:modified xsi:type="dcterms:W3CDTF">2026-08-25T12:24:46Z</dcterms:modified>
</cp:coreProperties>
</file>